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3333333" cy="7500000" type="wide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</Relationships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ai-commerce-os-b2b-hero.png"/></Relationships>
</file>

<file path=ppt/slides/_rels/slide2.xml.rels><?xml version="1.0" encoding="UTF-8" standalone="yes"?>
<Relationships xmlns="http://schemas.openxmlformats.org/package/2006/relationships"></Relationships>
</file>

<file path=ppt/slides/_rels/slide3.xml.rels><?xml version="1.0" encoding="UTF-8" standalone="yes"?>
<Relationships xmlns="http://schemas.openxmlformats.org/package/2006/relationships"></Relationships>
</file>

<file path=ppt/slides/_rels/slide4.xml.rels><?xml version="1.0" encoding="UTF-8" standalone="yes"?>
<Relationships xmlns="http://schemas.openxmlformats.org/package/2006/relationships"></Relationships>
</file>

<file path=ppt/slides/_rels/slide5.xml.rels><?xml version="1.0" encoding="UTF-8" standalone="yes"?>
<Relationships xmlns="http://schemas.openxmlformats.org/package/2006/relationships"></Relationships>
</file>

<file path=ppt/slides/_rels/slide6.xml.rels><?xml version="1.0" encoding="UTF-8" standalone="yes"?>
<Relationships xmlns="http://schemas.openxmlformats.org/package/2006/relationships"></Relationships>
</file>

<file path=ppt/slides/_rels/slide7.xml.rels><?xml version="1.0" encoding="UTF-8" standalone="yes"?>
<Relationships xmlns="http://schemas.openxmlformats.org/package/2006/relationships"></Relationships>
</file>

<file path=ppt/slides/_rels/slide8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ero image"/>
          <p:cNvPicPr/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3333333" cy="7500000"/>
          </a:xfrm>
          <a:prstGeom prst="rect">
            <a:avLst/>
          </a:prstGeom>
        </p:spPr>
      </p:pic>
      <p:sp>
        <p:nvSpPr>
          <p:cNvPr id="3" name="Box 3"/>
          <p:cNvSpPr/>
          <p:nvPr/>
        </p:nvSpPr>
        <p:spPr>
          <a:xfrm>
            <a:off x="0" y="0"/>
            <a:ext cx="5050000" cy="750000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4" name="Text 4"/>
          <p:cNvSpPr txBox="1"/>
          <p:nvPr/>
        </p:nvSpPr>
        <p:spPr>
          <a:xfrm>
            <a:off x="620000" y="660000"/>
            <a:ext cx="4000000" cy="5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800" b="1">
                <a:solidFill>
                  <a:srgbClr val="2563EB"/>
                </a:solidFill>
                <a:latin typeface="Microsoft YaHei"/>
                <a:ea typeface="Microsoft YaHei"/>
              </a:rPr>
              <a:t>AI Commerce OS</a:t>
            </a:r>
            <a:endParaRPr lang="zh-CN" sz="2800"/>
          </a:p>
        </p:txBody>
      </p:sp>
      <p:sp>
        <p:nvSpPr>
          <p:cNvPr id="5" name="Text 5"/>
          <p:cNvSpPr txBox="1"/>
          <p:nvPr/>
        </p:nvSpPr>
        <p:spPr>
          <a:xfrm>
            <a:off x="620000" y="1450000"/>
            <a:ext cx="4050000" cy="1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4100" b="1">
                <a:solidFill>
                  <a:srgbClr val="111827"/>
                </a:solidFill>
                <a:latin typeface="Microsoft YaHei"/>
                <a:ea typeface="Microsoft YaHei"/>
              </a:rPr>
              <a:t>面向电商企业的</a:t>
            </a:r>
            <a:endParaRPr lang="zh-CN" sz="4100"/>
          </a:p>
          <a:p>
            <a:r>
              <a:rPr lang="zh-CN" sz="4100" b="1">
                <a:solidFill>
                  <a:srgbClr val="111827"/>
                </a:solidFill>
                <a:latin typeface="Microsoft YaHei"/>
                <a:ea typeface="Microsoft YaHei"/>
              </a:rPr>
              <a:t>AI 员工操作系统</a:t>
            </a:r>
            <a:endParaRPr lang="zh-CN" sz="4100"/>
          </a:p>
        </p:txBody>
      </p:sp>
      <p:sp>
        <p:nvSpPr>
          <p:cNvPr id="6" name="Text 6"/>
          <p:cNvSpPr txBox="1"/>
          <p:nvPr/>
        </p:nvSpPr>
        <p:spPr>
          <a:xfrm>
            <a:off x="620000" y="3180000"/>
            <a:ext cx="40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0">
                <a:solidFill>
                  <a:srgbClr val="475569"/>
                </a:solidFill>
                <a:latin typeface="Microsoft YaHei"/>
                <a:ea typeface="Microsoft YaHei"/>
              </a:rPr>
              <a:t>从客服、售后、运营三个岗位开始，帮助老板把重复工作交给 AI，把关键决策留给人。</a:t>
            </a:r>
            <a:endParaRPr lang="zh-CN" sz="1650"/>
          </a:p>
        </p:txBody>
      </p:sp>
      <p:sp>
        <p:nvSpPr>
          <p:cNvPr id="7" name="Text 7"/>
          <p:cNvSpPr txBox="1"/>
          <p:nvPr/>
        </p:nvSpPr>
        <p:spPr>
          <a:xfrm>
            <a:off x="620000" y="5800000"/>
            <a:ext cx="4000000" cy="52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500" b="0">
                <a:solidFill>
                  <a:srgbClr val="64748B"/>
                </a:solidFill>
                <a:latin typeface="Microsoft YaHei"/>
                <a:ea typeface="Microsoft YaHei"/>
              </a:rPr>
              <a:t>商务版介绍材料 · V0.x</a:t>
            </a:r>
            <a:endParaRPr lang="zh-CN" sz="15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00000" y="650000"/>
            <a:ext cx="11600000" cy="7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企业真正要买的不是 AI，而是可验证的降本结果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60000" y="1720000"/>
            <a:ext cx="112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0">
                <a:solidFill>
                  <a:srgbClr val="475569"/>
                </a:solidFill>
                <a:latin typeface="Microsoft YaHei"/>
                <a:ea typeface="Microsoft YaHei"/>
              </a:rPr>
              <a:t>深圳基础电商团队中，客服、售后、运营的合计用人成本接近 4 万元/月。AI Commerce OS 优先替代重复、标准化、可审批的工作。</a:t>
            </a:r>
            <a:endParaRPr lang="zh-CN" sz="1850"/>
          </a:p>
        </p:txBody>
      </p:sp>
      <p:sp>
        <p:nvSpPr>
          <p:cNvPr id="4" name="Box 4"/>
          <p:cNvSpPr/>
          <p:nvPr/>
        </p:nvSpPr>
        <p:spPr>
          <a:xfrm>
            <a:off x="760000" y="285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4900000" y="285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9040000" y="285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70000" y="325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客服</a:t>
            </a:r>
            <a:endParaRPr lang="zh-CN" sz="2000"/>
          </a:p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重复咨询、订单查询、物流追踪、催付转化</a:t>
            </a:r>
            <a:endParaRPr lang="zh-CN" sz="2000"/>
          </a:p>
        </p:txBody>
      </p:sp>
      <p:sp>
        <p:nvSpPr>
          <p:cNvPr id="8" name="Text 8"/>
          <p:cNvSpPr txBox="1"/>
          <p:nvPr/>
        </p:nvSpPr>
        <p:spPr>
          <a:xfrm>
            <a:off x="5210000" y="325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售后</a:t>
            </a:r>
            <a:endParaRPr lang="zh-CN" sz="2000"/>
          </a:p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退款退货、投诉分级、异常物流、赔偿初筛</a:t>
            </a:r>
            <a:endParaRPr lang="zh-CN" sz="2000"/>
          </a:p>
        </p:txBody>
      </p:sp>
      <p:sp>
        <p:nvSpPr>
          <p:cNvPr id="9" name="Text 9"/>
          <p:cNvSpPr txBox="1"/>
          <p:nvPr/>
        </p:nvSpPr>
        <p:spPr>
          <a:xfrm>
            <a:off x="9350000" y="325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运营</a:t>
            </a:r>
            <a:endParaRPr lang="zh-CN" sz="2000"/>
          </a:p>
          <a:p>
            <a:r>
              <a:rPr lang="zh-CN" sz="2000" b="1">
                <a:solidFill>
                  <a:srgbClr val="111827"/>
                </a:solidFill>
                <a:latin typeface="Microsoft YaHei"/>
                <a:ea typeface="Microsoft YaHei"/>
              </a:rPr>
              <a:t>客户分层、私域线索、投流建议、活动复盘</a:t>
            </a:r>
            <a:endParaRPr lang="zh-CN" sz="2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20000"/>
            <a:ext cx="11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不是聊天机器人，而是 AI 员工控制系统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80000" y="1520000"/>
            <a:ext cx="110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系统把 AI 能做的工作、必须审批的动作、老板经验和历史数据放到同一个可追踪工作流里。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760000" y="2550000"/>
            <a:ext cx="2500000" cy="280000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3700000" y="2550000"/>
            <a:ext cx="2500000" cy="2800000"/>
          </a:xfrm>
          <a:prstGeom prst="roundRect">
            <a:avLst/>
          </a:prstGeom>
          <a:solidFill>
            <a:srgbClr val="F0FDF4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6640000" y="2550000"/>
            <a:ext cx="2500000" cy="2800000"/>
          </a:xfrm>
          <a:prstGeom prst="roundRect">
            <a:avLst/>
          </a:prstGeom>
          <a:solidFill>
            <a:srgbClr val="FFF7ED"/>
          </a:solidFill>
          <a:ln>
            <a:solidFill>
              <a:srgbClr val="E5E7EB"/>
            </a:solidFill>
          </a:ln>
        </p:spPr>
      </p:sp>
      <p:sp>
        <p:nvSpPr>
          <p:cNvPr id="7" name="Box 7"/>
          <p:cNvSpPr/>
          <p:nvPr/>
        </p:nvSpPr>
        <p:spPr>
          <a:xfrm>
            <a:off x="9580000" y="2550000"/>
            <a:ext cx="2500000" cy="28000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040000" y="3020000"/>
            <a:ext cx="1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AI Customer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售前咨询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订单物流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人工接管</a:t>
            </a:r>
            <a:endParaRPr lang="zh-CN" sz="1850"/>
          </a:p>
        </p:txBody>
      </p:sp>
      <p:sp>
        <p:nvSpPr>
          <p:cNvPr id="9" name="Text 9"/>
          <p:cNvSpPr txBox="1"/>
          <p:nvPr/>
        </p:nvSpPr>
        <p:spPr>
          <a:xfrm>
            <a:off x="3980000" y="3020000"/>
            <a:ext cx="1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AI AfterSale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退款退货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投诉风险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审批建议</a:t>
            </a:r>
            <a:endParaRPr lang="zh-CN" sz="1850"/>
          </a:p>
        </p:txBody>
      </p:sp>
      <p:sp>
        <p:nvSpPr>
          <p:cNvPr id="10" name="Text 10"/>
          <p:cNvSpPr txBox="1"/>
          <p:nvPr/>
        </p:nvSpPr>
        <p:spPr>
          <a:xfrm>
            <a:off x="6920000" y="3020000"/>
            <a:ext cx="1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AI Operation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私域获客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投流草稿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经营复盘</a:t>
            </a:r>
            <a:endParaRPr lang="zh-CN" sz="1850"/>
          </a:p>
        </p:txBody>
      </p:sp>
      <p:sp>
        <p:nvSpPr>
          <p:cNvPr id="11" name="Text 11"/>
          <p:cNvSpPr txBox="1"/>
          <p:nvPr/>
        </p:nvSpPr>
        <p:spPr>
          <a:xfrm>
            <a:off x="9860000" y="3020000"/>
            <a:ext cx="1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Boss Approval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预算审批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风险确认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最终决策</a:t>
            </a:r>
            <a:endParaRPr lang="zh-CN" sz="18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20000"/>
            <a:ext cx="11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AI客服：先替代最高频的重复回复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80000" y="1520000"/>
            <a:ext cx="110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低风险问题自动生成回复草稿，高风险问题自动暂停，商家修改进入学习记录。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760000" y="2480000"/>
            <a:ext cx="5500000" cy="34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7040000" y="2480000"/>
            <a:ext cx="5500000" cy="34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Text 6"/>
          <p:cNvSpPr txBox="1"/>
          <p:nvPr/>
        </p:nvSpPr>
        <p:spPr>
          <a:xfrm>
            <a:off x="1140000" y="2980000"/>
            <a:ext cx="4600000" cy="2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可自动处理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商品 FAQ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订单状态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物流查询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发货时效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基础催付</a:t>
            </a:r>
            <a:endParaRPr lang="zh-CN" sz="1850"/>
          </a:p>
        </p:txBody>
      </p:sp>
      <p:sp>
        <p:nvSpPr>
          <p:cNvPr id="7" name="Text 7"/>
          <p:cNvSpPr txBox="1"/>
          <p:nvPr/>
        </p:nvSpPr>
        <p:spPr>
          <a:xfrm>
            <a:off x="7420000" y="2980000"/>
            <a:ext cx="4600000" cy="22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必须人工确认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退款赔偿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投诉差评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金额优惠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情绪激烈</a:t>
            </a:r>
            <a:endParaRPr lang="zh-CN" sz="1850"/>
          </a:p>
          <a:p>
            <a:r>
              <a:rPr lang="zh-CN" sz="1850" b="1">
                <a:solidFill>
                  <a:srgbClr val="111827"/>
                </a:solidFill>
                <a:latin typeface="Microsoft YaHei"/>
                <a:ea typeface="Microsoft YaHei"/>
              </a:rPr>
              <a:t>· 平台规则风险</a:t>
            </a:r>
            <a:endParaRPr lang="zh-CN" sz="18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20000"/>
            <a:ext cx="11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AI售后：先做风险分级，再做自动化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80000" y="1520000"/>
            <a:ext cx="110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售后不是越自动越好。退款、赔偿、投诉必须可控、可审计、可复盘。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760000" y="260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4900000" y="260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9040000" y="2600000"/>
            <a:ext cx="3550000" cy="265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060000" y="303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识别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退款、退货、物流异常、投诉、赔偿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5200000" y="303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判断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风险等级、责任归因、是否需要审批</a:t>
            </a:r>
            <a:endParaRPr lang="zh-CN" sz="1900"/>
          </a:p>
        </p:txBody>
      </p:sp>
      <p:sp>
        <p:nvSpPr>
          <p:cNvPr id="9" name="Text 9"/>
          <p:cNvSpPr txBox="1"/>
          <p:nvPr/>
        </p:nvSpPr>
        <p:spPr>
          <a:xfrm>
            <a:off x="9340000" y="3030000"/>
            <a:ext cx="2950000" cy="16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沉淀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售后 SOP、老板审批、异常案例</a:t>
            </a:r>
            <a:endParaRPr lang="zh-CN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20000"/>
            <a:ext cx="11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AI运营：先做私域线索和投流计划草稿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80000" y="1520000"/>
            <a:ext cx="110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AI运营不直接花钱。它负责发现机会、生成方案、复盘效果，预算和执行由老板审批。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760000" y="2420000"/>
            <a:ext cx="11700000" cy="3300000"/>
          </a:xfrm>
          <a:prstGeom prst="roundRect">
            <a:avLst/>
          </a:prstGeom>
          <a:solidFill>
            <a:srgbClr val="111827"/>
          </a:solidFill>
          <a:ln>
            <a:solidFill>
              <a:srgbClr val="E5E7EB"/>
            </a:solidFill>
          </a:ln>
        </p:spPr>
      </p:sp>
      <p:sp>
        <p:nvSpPr>
          <p:cNvPr id="5" name="Text 5"/>
          <p:cNvSpPr txBox="1"/>
          <p:nvPr/>
        </p:nvSpPr>
        <p:spPr>
          <a:xfrm>
            <a:off x="1200000" y="2920000"/>
            <a:ext cx="10700000" cy="20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2300" b="1">
                <a:solidFill>
                  <a:srgbClr val="FFFFFF"/>
                </a:solidFill>
                <a:latin typeface="Microsoft YaHei"/>
                <a:ea typeface="Microsoft YaHei"/>
              </a:rPr>
              <a:t>高意向客户识别  →  私域引导话术  →  优惠券建议  →  投流计划草稿  →  老板审批  →  复盘 ROI</a:t>
            </a:r>
            <a:endParaRPr lang="zh-CN" sz="2300"/>
          </a:p>
        </p:txBody>
      </p:sp>
      <p:sp>
        <p:nvSpPr>
          <p:cNvPr id="6" name="Text 6"/>
          <p:cNvSpPr txBox="1"/>
          <p:nvPr/>
        </p:nvSpPr>
        <p:spPr>
          <a:xfrm>
            <a:off x="1200000" y="5080000"/>
            <a:ext cx="10700000" cy="5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0">
                <a:solidFill>
                  <a:srgbClr val="CBD5E1"/>
                </a:solidFill>
                <a:latin typeface="Microsoft YaHei"/>
                <a:ea typeface="Microsoft YaHei"/>
              </a:rPr>
              <a:t>所有涉及预算、群发、价格和优惠的动作必须审批。</a:t>
            </a:r>
            <a:endParaRPr lang="zh-CN" sz="16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20000"/>
            <a:ext cx="115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验证闭环：用数据证明 AI 是否真的能替代人</a:t>
            </a:r>
            <a:endParaRPr lang="zh-CN" sz="3300"/>
          </a:p>
        </p:txBody>
      </p:sp>
      <p:sp>
        <p:nvSpPr>
          <p:cNvPr id="3" name="Box 3"/>
          <p:cNvSpPr/>
          <p:nvPr/>
        </p:nvSpPr>
        <p:spPr>
          <a:xfrm>
            <a:off x="880000" y="2100000"/>
            <a:ext cx="2200000" cy="1500000"/>
          </a:xfrm>
          <a:prstGeom prst="roundRect">
            <a:avLst/>
          </a:prstGeom>
          <a:solidFill>
            <a:srgbClr val="EFF6FF"/>
          </a:solidFill>
          <a:ln>
            <a:solidFill>
              <a:srgbClr val="E5E7EB"/>
            </a:solidFill>
          </a:ln>
        </p:spPr>
      </p:sp>
      <p:sp>
        <p:nvSpPr>
          <p:cNvPr id="4" name="Box 4"/>
          <p:cNvSpPr/>
          <p:nvPr/>
        </p:nvSpPr>
        <p:spPr>
          <a:xfrm>
            <a:off x="3420000" y="2100000"/>
            <a:ext cx="2200000" cy="1500000"/>
          </a:xfrm>
          <a:prstGeom prst="roundRect">
            <a:avLst/>
          </a:prstGeom>
          <a:solidFill>
            <a:srgbClr val="F0FDF4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5960000" y="2100000"/>
            <a:ext cx="2200000" cy="1500000"/>
          </a:xfrm>
          <a:prstGeom prst="roundRect">
            <a:avLst/>
          </a:prstGeom>
          <a:solidFill>
            <a:srgbClr val="FFF7ED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8500000" y="2100000"/>
            <a:ext cx="2200000" cy="1500000"/>
          </a:xfrm>
          <a:prstGeom prst="roundRect">
            <a:avLst/>
          </a:prstGeom>
          <a:solidFill>
            <a:srgbClr val="F5F3FF"/>
          </a:solidFill>
          <a:ln>
            <a:solidFill>
              <a:srgbClr val="E5E7EB"/>
            </a:solidFill>
          </a:ln>
        </p:spPr>
      </p:sp>
      <p:sp>
        <p:nvSpPr>
          <p:cNvPr id="7" name="Box 7"/>
          <p:cNvSpPr/>
          <p:nvPr/>
        </p:nvSpPr>
        <p:spPr>
          <a:xfrm>
            <a:off x="11040000" y="2100000"/>
            <a:ext cx="1600000" cy="1500000"/>
          </a:xfrm>
          <a:prstGeom prst="roundRect">
            <a:avLst/>
          </a:prstGeom>
          <a:solidFill>
            <a:srgbClr val="F8FAFC"/>
          </a:solidFill>
          <a:ln>
            <a:solidFill>
              <a:srgbClr val="E5E7EB"/>
            </a:solidFill>
          </a:ln>
        </p:spPr>
      </p:sp>
      <p:sp>
        <p:nvSpPr>
          <p:cNvPr id="8" name="Text 8"/>
          <p:cNvSpPr txBox="1"/>
          <p:nvPr/>
        </p:nvSpPr>
        <p:spPr>
          <a:xfrm>
            <a:off x="1100000" y="2560000"/>
            <a:ext cx="176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Dataset</a:t>
            </a:r>
            <a:endParaRPr lang="zh-CN" sz="1650"/>
          </a:p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标准数据集</a:t>
            </a:r>
            <a:endParaRPr lang="zh-CN" sz="1650"/>
          </a:p>
        </p:txBody>
      </p:sp>
      <p:sp>
        <p:nvSpPr>
          <p:cNvPr id="9" name="Text 9"/>
          <p:cNvSpPr txBox="1"/>
          <p:nvPr/>
        </p:nvSpPr>
        <p:spPr>
          <a:xfrm>
            <a:off x="3640000" y="2560000"/>
            <a:ext cx="176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Replay</a:t>
            </a:r>
            <a:endParaRPr lang="zh-CN" sz="1650"/>
          </a:p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历史回放</a:t>
            </a:r>
            <a:endParaRPr lang="zh-CN" sz="1650"/>
          </a:p>
        </p:txBody>
      </p:sp>
      <p:sp>
        <p:nvSpPr>
          <p:cNvPr id="10" name="Text 10"/>
          <p:cNvSpPr txBox="1"/>
          <p:nvPr/>
        </p:nvSpPr>
        <p:spPr>
          <a:xfrm>
            <a:off x="6180000" y="2560000"/>
            <a:ext cx="176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Evaluate</a:t>
            </a:r>
            <a:endParaRPr lang="zh-CN" sz="1650"/>
          </a:p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评分报告</a:t>
            </a:r>
            <a:endParaRPr lang="zh-CN" sz="1650"/>
          </a:p>
        </p:txBody>
      </p:sp>
      <p:sp>
        <p:nvSpPr>
          <p:cNvPr id="11" name="Text 11"/>
          <p:cNvSpPr txBox="1"/>
          <p:nvPr/>
        </p:nvSpPr>
        <p:spPr>
          <a:xfrm>
            <a:off x="8720000" y="2560000"/>
            <a:ext cx="176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Training</a:t>
            </a:r>
            <a:endParaRPr lang="zh-CN" sz="1650"/>
          </a:p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老板经验</a:t>
            </a:r>
            <a:endParaRPr lang="zh-CN" sz="1650"/>
          </a:p>
        </p:txBody>
      </p:sp>
      <p:sp>
        <p:nvSpPr>
          <p:cNvPr id="12" name="Text 12"/>
          <p:cNvSpPr txBox="1"/>
          <p:nvPr/>
        </p:nvSpPr>
        <p:spPr>
          <a:xfrm>
            <a:off x="11250000" y="2560000"/>
            <a:ext cx="116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ROI</a:t>
            </a:r>
            <a:endParaRPr lang="zh-CN" sz="1650"/>
          </a:p>
          <a:p>
            <a:r>
              <a:rPr lang="zh-CN" sz="1650" b="1">
                <a:solidFill>
                  <a:srgbClr val="111827"/>
                </a:solidFill>
                <a:latin typeface="Microsoft YaHei"/>
                <a:ea typeface="Microsoft YaHei"/>
              </a:rPr>
              <a:t>降本</a:t>
            </a:r>
            <a:endParaRPr lang="zh-CN" sz="1650"/>
          </a:p>
        </p:txBody>
      </p:sp>
      <p:sp>
        <p:nvSpPr>
          <p:cNvPr id="13" name="Text 13"/>
          <p:cNvSpPr txBox="1"/>
          <p:nvPr/>
        </p:nvSpPr>
        <p:spPr>
          <a:xfrm>
            <a:off x="880000" y="4550000"/>
            <a:ext cx="11500000" cy="9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0">
                <a:solidFill>
                  <a:srgbClr val="475569"/>
                </a:solidFill>
                <a:latin typeface="Microsoft YaHei"/>
                <a:ea typeface="Microsoft YaHei"/>
              </a:rPr>
              <a:t>下一阶段不继续堆页面，而是建立 Commerce Dataset、Replay Engine、Evaluation Engine 和 Training Center。</a:t>
            </a:r>
            <a:endParaRPr lang="zh-CN"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720000" y="640000"/>
            <a:ext cx="11600000" cy="70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3300" b="1">
                <a:solidFill>
                  <a:srgbClr val="111827"/>
                </a:solidFill>
                <a:latin typeface="Microsoft YaHei"/>
                <a:ea typeface="Microsoft YaHei"/>
              </a:rPr>
              <a:t>试用目标：先证明能省时间，再证明能省人</a:t>
            </a:r>
            <a:endParaRPr lang="zh-CN" sz="3300"/>
          </a:p>
        </p:txBody>
      </p:sp>
      <p:sp>
        <p:nvSpPr>
          <p:cNvPr id="3" name="Text 3"/>
          <p:cNvSpPr txBox="1"/>
          <p:nvPr/>
        </p:nvSpPr>
        <p:spPr>
          <a:xfrm>
            <a:off x="780000" y="1610000"/>
            <a:ext cx="11000000" cy="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800" b="0">
                <a:solidFill>
                  <a:srgbClr val="475569"/>
                </a:solidFill>
                <a:latin typeface="Microsoft YaHei"/>
                <a:ea typeface="Microsoft YaHei"/>
              </a:rPr>
              <a:t>建议用 1 到 3 家商家真实数据试跑，按周复盘自动化率、错误率、人工接管率和节省工时。</a:t>
            </a:r>
            <a:endParaRPr lang="zh-CN" sz="1800"/>
          </a:p>
        </p:txBody>
      </p:sp>
      <p:sp>
        <p:nvSpPr>
          <p:cNvPr id="4" name="Box 4"/>
          <p:cNvSpPr/>
          <p:nvPr/>
        </p:nvSpPr>
        <p:spPr>
          <a:xfrm>
            <a:off x="900000" y="2760000"/>
            <a:ext cx="3500000" cy="26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5" name="Box 5"/>
          <p:cNvSpPr/>
          <p:nvPr/>
        </p:nvSpPr>
        <p:spPr>
          <a:xfrm>
            <a:off x="4900000" y="2760000"/>
            <a:ext cx="3500000" cy="26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6" name="Box 6"/>
          <p:cNvSpPr/>
          <p:nvPr/>
        </p:nvSpPr>
        <p:spPr>
          <a:xfrm>
            <a:off x="8900000" y="2760000"/>
            <a:ext cx="3500000" cy="2600000"/>
          </a:xfrm>
          <a:prstGeom prst="round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</p:sp>
      <p:sp>
        <p:nvSpPr>
          <p:cNvPr id="7" name="Text 7"/>
          <p:cNvSpPr txBox="1"/>
          <p:nvPr/>
        </p:nvSpPr>
        <p:spPr>
          <a:xfrm>
            <a:off x="1250000" y="3160000"/>
            <a:ext cx="2700000" cy="1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阶段一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客服修正样本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300 到 1000 条</a:t>
            </a:r>
            <a:endParaRPr lang="zh-CN" sz="1900"/>
          </a:p>
        </p:txBody>
      </p:sp>
      <p:sp>
        <p:nvSpPr>
          <p:cNvPr id="8" name="Text 8"/>
          <p:cNvSpPr txBox="1"/>
          <p:nvPr/>
        </p:nvSpPr>
        <p:spPr>
          <a:xfrm>
            <a:off x="5250000" y="3160000"/>
            <a:ext cx="2700000" cy="1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阶段二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售后决策样本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100 到 300 条</a:t>
            </a:r>
            <a:endParaRPr lang="zh-CN" sz="1900"/>
          </a:p>
        </p:txBody>
      </p:sp>
      <p:sp>
        <p:nvSpPr>
          <p:cNvPr id="9" name="Text 9"/>
          <p:cNvSpPr txBox="1"/>
          <p:nvPr/>
        </p:nvSpPr>
        <p:spPr>
          <a:xfrm>
            <a:off x="9250000" y="3160000"/>
            <a:ext cx="2700000" cy="165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阶段三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运营线索复盘</a:t>
            </a:r>
            <a:endParaRPr lang="zh-CN" sz="1900"/>
          </a:p>
          <a:p>
            <a:r>
              <a:rPr lang="zh-CN" sz="1900" b="1">
                <a:solidFill>
                  <a:srgbClr val="111827"/>
                </a:solidFill>
                <a:latin typeface="Microsoft YaHei"/>
                <a:ea typeface="Microsoft YaHei"/>
              </a:rPr>
              <a:t>私域与投流建议</a:t>
            </a:r>
            <a:endParaRPr lang="zh-CN" sz="1900"/>
          </a:p>
        </p:txBody>
      </p:sp>
      <p:sp>
        <p:nvSpPr>
          <p:cNvPr id="10" name="Text 10"/>
          <p:cNvSpPr txBox="1"/>
          <p:nvPr/>
        </p:nvSpPr>
        <p:spPr>
          <a:xfrm>
            <a:off x="780000" y="6250000"/>
            <a:ext cx="11200000" cy="420000"/>
          </a:xfrm>
          <a:prstGeom prst="rect">
            <a:avLst/>
          </a:prstGeom>
          <a:noFill/>
        </p:spPr>
        <p:txBody>
          <a:bodyPr wrap="square" anchor="t"/>
          <a:lstStyle/>
          <a:p>
            <a:r>
              <a:rPr lang="zh-CN" sz="1700" b="1">
                <a:solidFill>
                  <a:srgbClr val="2563EB"/>
                </a:solidFill>
                <a:latin typeface="Microsoft YaHei"/>
                <a:ea typeface="Microsoft YaHei"/>
              </a:rPr>
              <a:t>AI 负责工作，老板负责审批；以可验证指标逐步替代 4 万/月重复人力成本。</a:t>
            </a:r>
            <a:endParaRPr lang="zh-CN" sz="1700"/>
          </a:p>
        </p:txBody>
      </p:sp>
    </p:spTree>
  </p:cSld>
  <p:clrMapOvr>
    <a:masterClrMapping/>
  </p:clrMapOvr>
</p:sld>
</file>

<file path=docProps/app.xml><?xml version="1.0" encoding="utf-8"?>
<Properties xmlns="http://schemas.openxmlformats.org/officeDocument/2006/extended-properties" xmlns:vt="http://schemas.openxmlformats.org/officeDocument/2006/docPropsVTypes">
  <Application>AI Commerce OS</Application>
  <PresentationFormat>宽屏</PresentationFormat>
  <Slides>8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Commerce OS B2B Deck</dc:title>
  <dc:creator>AI Commerce OS</dc:creator>
  <cp:lastModifiedBy>AI Commerce OS</cp:lastModifiedBy>
  <dcterms:created xsi:type="dcterms:W3CDTF">2026-07-12T00:00:00Z</dcterms:created>
  <dcterms:modified xsi:type="dcterms:W3CDTF">2026-07-12T00:00:00Z</dcterms:modified>
</cp:coreProperties>
</file>