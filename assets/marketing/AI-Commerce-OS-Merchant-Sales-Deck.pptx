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3333333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</Relationship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ai-commerce-os-b2b-hero.png"/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_rels/slide5.xml.rels><?xml version="1.0" encoding="UTF-8" standalone="yes"?>
<Relationships xmlns="http://schemas.openxmlformats.org/package/2006/relationships"></Relationships>
</file>

<file path=ppt/slides/_rels/slide6.xml.rels><?xml version="1.0" encoding="UTF-8" standalone="yes"?>
<Relationships xmlns="http://schemas.openxmlformats.org/package/2006/relationships"></Relationships>
</file>

<file path=ppt/slides/_rels/slide7.xml.rels><?xml version="1.0" encoding="UTF-8" standalone="yes"?>
<Relationships xmlns="http://schemas.openxmlformats.org/package/2006/relationships"></Relationships>
</file>

<file path=ppt/slides/_rels/slide8.xml.rels><?xml version="1.0" encoding="UTF-8" standalone="yes"?>
<Relationships xmlns="http://schemas.openxmlformats.org/package/2006/relationships"></Relationships>
</file>

<file path=ppt/slides/_rels/slide9.xml.rels><?xml version="1.0" encoding="UTF-8" standalone="yes"?>
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 image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</p:spPr>
      </p:pic>
      <p:sp>
        <p:nvSpPr>
          <p:cNvPr id="3" name="Box 3"/>
          <p:cNvSpPr/>
          <p:nvPr/>
        </p:nvSpPr>
        <p:spPr>
          <a:xfrm>
            <a:off x="0" y="0"/>
            <a:ext cx="5300000" cy="75000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20000" y="650000"/>
            <a:ext cx="43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2800" b="1">
                <a:solidFill>
                  <a:srgbClr val="2563EB"/>
                </a:solidFill>
                <a:latin typeface="Microsoft YaHei"/>
                <a:ea typeface="Microsoft YaHei"/>
              </a:rPr>
              <a:t>AI Commerce OS</a:t>
            </a:r>
            <a:endParaRPr lang="zh-CN" sz="2800"/>
          </a:p>
        </p:txBody>
      </p:sp>
      <p:sp>
        <p:nvSpPr>
          <p:cNvPr id="5" name="Text 5"/>
          <p:cNvSpPr txBox="1"/>
          <p:nvPr/>
        </p:nvSpPr>
        <p:spPr>
          <a:xfrm>
            <a:off x="620000" y="1420000"/>
            <a:ext cx="4350000" cy="15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4050" b="1">
                <a:solidFill>
                  <a:srgbClr val="111827"/>
                </a:solidFill>
                <a:latin typeface="Microsoft YaHei"/>
                <a:ea typeface="Microsoft YaHei"/>
              </a:rPr>
              <a:t>给电商老板的</a:t>
            </a:r>
            <a:endParaRPr lang="zh-CN" sz="4050"/>
          </a:p>
          <a:p>
            <a:r>
              <a:rPr lang="zh-CN" sz="4050" b="1">
                <a:solidFill>
                  <a:srgbClr val="111827"/>
                </a:solidFill>
                <a:latin typeface="Microsoft YaHei"/>
                <a:ea typeface="Microsoft YaHei"/>
              </a:rPr>
              <a:t>AI 员工团队</a:t>
            </a:r>
            <a:endParaRPr lang="zh-CN" sz="4050"/>
          </a:p>
        </p:txBody>
      </p:sp>
      <p:sp>
        <p:nvSpPr>
          <p:cNvPr id="6" name="Text 6"/>
          <p:cNvSpPr txBox="1"/>
          <p:nvPr/>
        </p:nvSpPr>
        <p:spPr>
          <a:xfrm>
            <a:off x="620000" y="3150000"/>
            <a:ext cx="43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650" b="0">
                <a:solidFill>
                  <a:srgbClr val="475569"/>
                </a:solidFill>
                <a:latin typeface="Microsoft YaHei"/>
                <a:ea typeface="Microsoft YaHei"/>
              </a:rPr>
              <a:t>从客服、售后、运营开始，先替代重复工作，再用真实数据验证降本效果。</a:t>
            </a:r>
            <a:endParaRPr lang="zh-CN" sz="1650"/>
          </a:p>
        </p:txBody>
      </p:sp>
      <p:sp>
        <p:nvSpPr>
          <p:cNvPr id="7" name="Text 7"/>
          <p:cNvSpPr txBox="1"/>
          <p:nvPr/>
        </p:nvSpPr>
        <p:spPr>
          <a:xfrm>
            <a:off x="620000" y="5820000"/>
            <a:ext cx="420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500" b="0">
                <a:solidFill>
                  <a:srgbClr val="64748B"/>
                </a:solidFill>
                <a:latin typeface="Microsoft YaHei"/>
                <a:ea typeface="Microsoft YaHei"/>
              </a:rPr>
              <a:t>商家成交版 · 适合 1 对 1 讲解</a:t>
            </a:r>
            <a:endParaRPr lang="zh-CN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650000"/>
            <a:ext cx="118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3350" b="1">
                <a:solidFill>
                  <a:srgbClr val="111827"/>
                </a:solidFill>
                <a:latin typeface="Microsoft YaHei"/>
                <a:ea typeface="Microsoft YaHei"/>
              </a:rPr>
              <a:t>电商老板每天被三类重复工作消耗</a:t>
            </a:r>
            <a:endParaRPr lang="zh-CN" sz="3350"/>
          </a:p>
        </p:txBody>
      </p:sp>
      <p:sp>
        <p:nvSpPr>
          <p:cNvPr id="3" name="Text 3"/>
          <p:cNvSpPr txBox="1"/>
          <p:nvPr/>
        </p:nvSpPr>
        <p:spPr>
          <a:xfrm>
            <a:off x="760000" y="1550000"/>
            <a:ext cx="1120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00" b="0">
                <a:solidFill>
                  <a:srgbClr val="475569"/>
                </a:solidFill>
                <a:latin typeface="Microsoft YaHei"/>
                <a:ea typeface="Microsoft YaHei"/>
              </a:rPr>
              <a:t>不是缺工具，而是缺一支能持续工作、能被纠正、能被审批的 AI 团队。</a:t>
            </a:r>
            <a:endParaRPr lang="zh-CN" sz="1800"/>
          </a:p>
        </p:txBody>
      </p:sp>
      <p:sp>
        <p:nvSpPr>
          <p:cNvPr id="4" name="Box 4"/>
          <p:cNvSpPr/>
          <p:nvPr/>
        </p:nvSpPr>
        <p:spPr>
          <a:xfrm>
            <a:off x="760000" y="2650000"/>
            <a:ext cx="3650000" cy="280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5" name="Box 5"/>
          <p:cNvSpPr/>
          <p:nvPr/>
        </p:nvSpPr>
        <p:spPr>
          <a:xfrm>
            <a:off x="4850000" y="2650000"/>
            <a:ext cx="3650000" cy="280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6" name="Box 6"/>
          <p:cNvSpPr/>
          <p:nvPr/>
        </p:nvSpPr>
        <p:spPr>
          <a:xfrm>
            <a:off x="8940000" y="2650000"/>
            <a:ext cx="3650000" cy="280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1120000" y="3050000"/>
            <a:ext cx="2900000" cy="19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客服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反复回答尺码、库存、发货、订单和物流问题</a:t>
            </a:r>
            <a:endParaRPr lang="zh-CN" sz="1900"/>
          </a:p>
        </p:txBody>
      </p:sp>
      <p:sp>
        <p:nvSpPr>
          <p:cNvPr id="8" name="Text 8"/>
          <p:cNvSpPr txBox="1"/>
          <p:nvPr/>
        </p:nvSpPr>
        <p:spPr>
          <a:xfrm>
            <a:off x="5210000" y="3050000"/>
            <a:ext cx="2900000" cy="19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售后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退款、退货、投诉、赔偿和异常物流每天重复判断</a:t>
            </a:r>
            <a:endParaRPr lang="zh-CN" sz="1900"/>
          </a:p>
        </p:txBody>
      </p:sp>
      <p:sp>
        <p:nvSpPr>
          <p:cNvPr id="9" name="Text 9"/>
          <p:cNvSpPr txBox="1"/>
          <p:nvPr/>
        </p:nvSpPr>
        <p:spPr>
          <a:xfrm>
            <a:off x="9300000" y="3050000"/>
            <a:ext cx="2900000" cy="19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运营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客户线索、私域话术、活动建议和投流复盘靠人工盯</a:t>
            </a:r>
            <a:endParaRPr lang="zh-CN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650000"/>
            <a:ext cx="118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3350" b="1">
                <a:solidFill>
                  <a:srgbClr val="111827"/>
                </a:solidFill>
                <a:latin typeface="Microsoft YaHei"/>
                <a:ea typeface="Microsoft YaHei"/>
              </a:rPr>
              <a:t>目标不是炫 AI，而是先省下可计算的人力成本</a:t>
            </a:r>
            <a:endParaRPr lang="zh-CN" sz="3350"/>
          </a:p>
        </p:txBody>
      </p:sp>
      <p:sp>
        <p:nvSpPr>
          <p:cNvPr id="3" name="Box 3"/>
          <p:cNvSpPr/>
          <p:nvPr/>
        </p:nvSpPr>
        <p:spPr>
          <a:xfrm>
            <a:off x="840000" y="1850000"/>
            <a:ext cx="11600000" cy="3900000"/>
          </a:xfrm>
          <a:prstGeom prst="roundRect">
            <a:avLst/>
          </a:prstGeom>
          <a:solidFill>
            <a:srgbClr val="111827"/>
          </a:solidFill>
          <a:ln>
            <a:solidFill>
              <a:srgbClr val="E5E7E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1260000" y="2280000"/>
            <a:ext cx="41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2450" b="1">
                <a:solidFill>
                  <a:srgbClr val="FFFFFF"/>
                </a:solidFill>
                <a:latin typeface="Microsoft YaHei"/>
                <a:ea typeface="Microsoft YaHei"/>
              </a:rPr>
              <a:t>深圳基础电商团队</a:t>
            </a:r>
            <a:endParaRPr lang="zh-CN" sz="2450"/>
          </a:p>
          <a:p>
            <a:r>
              <a:rPr lang="zh-CN" sz="2450" b="1">
                <a:solidFill>
                  <a:srgbClr val="FFFFFF"/>
                </a:solidFill>
                <a:latin typeface="Microsoft YaHei"/>
                <a:ea typeface="Microsoft YaHei"/>
              </a:rPr>
              <a:t>客服 + 售后 + 运营</a:t>
            </a:r>
            <a:endParaRPr lang="zh-CN" sz="2450"/>
          </a:p>
        </p:txBody>
      </p:sp>
      <p:sp>
        <p:nvSpPr>
          <p:cNvPr id="5" name="Text 5"/>
          <p:cNvSpPr txBox="1"/>
          <p:nvPr/>
        </p:nvSpPr>
        <p:spPr>
          <a:xfrm>
            <a:off x="6850000" y="2220000"/>
            <a:ext cx="4700000" cy="14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约 4 万元/月</a:t>
            </a:r>
            <a:endParaRPr lang="zh-CN" sz="3000"/>
          </a:p>
          <a:p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重复人力成本</a:t>
            </a:r>
            <a:endParaRPr lang="zh-CN" sz="3000"/>
          </a:p>
        </p:txBody>
      </p:sp>
      <p:sp>
        <p:nvSpPr>
          <p:cNvPr id="6" name="Text 6"/>
          <p:cNvSpPr txBox="1"/>
          <p:nvPr/>
        </p:nvSpPr>
        <p:spPr>
          <a:xfrm>
            <a:off x="1260000" y="4250000"/>
            <a:ext cx="10400000" cy="7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50" b="0">
                <a:solidFill>
                  <a:srgbClr val="CBD5E1"/>
                </a:solidFill>
                <a:latin typeface="Microsoft YaHei"/>
                <a:ea typeface="Microsoft YaHei"/>
              </a:rPr>
              <a:t>AI Commerce OS 的第一目标：把重复、标准化、可审批的工作交给 AI，老板只处理关键决策。</a:t>
            </a:r>
            <a:endParaRPr lang="zh-CN" sz="1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630000"/>
            <a:ext cx="118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3350" b="1">
                <a:solidFill>
                  <a:srgbClr val="111827"/>
                </a:solidFill>
                <a:latin typeface="Microsoft YaHei"/>
                <a:ea typeface="Microsoft YaHei"/>
              </a:rPr>
              <a:t>三名 AI 员工，先接管最容易标准化的工作</a:t>
            </a:r>
            <a:endParaRPr lang="zh-CN" sz="3350"/>
          </a:p>
        </p:txBody>
      </p:sp>
      <p:sp>
        <p:nvSpPr>
          <p:cNvPr id="3" name="Box 3"/>
          <p:cNvSpPr/>
          <p:nvPr/>
        </p:nvSpPr>
        <p:spPr>
          <a:xfrm>
            <a:off x="760000" y="2100000"/>
            <a:ext cx="3650000" cy="325000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</p:sp>
      <p:sp>
        <p:nvSpPr>
          <p:cNvPr id="4" name="Box 4"/>
          <p:cNvSpPr/>
          <p:nvPr/>
        </p:nvSpPr>
        <p:spPr>
          <a:xfrm>
            <a:off x="4850000" y="2100000"/>
            <a:ext cx="3650000" cy="3250000"/>
          </a:xfrm>
          <a:prstGeom prst="roundRect">
            <a:avLst/>
          </a:prstGeom>
          <a:solidFill>
            <a:srgbClr val="FFF7ED"/>
          </a:solidFill>
          <a:ln>
            <a:solidFill>
              <a:srgbClr val="E5E7EB"/>
            </a:solidFill>
          </a:ln>
        </p:spPr>
      </p:sp>
      <p:sp>
        <p:nvSpPr>
          <p:cNvPr id="5" name="Box 5"/>
          <p:cNvSpPr/>
          <p:nvPr/>
        </p:nvSpPr>
        <p:spPr>
          <a:xfrm>
            <a:off x="8940000" y="2100000"/>
            <a:ext cx="3650000" cy="3250000"/>
          </a:xfrm>
          <a:prstGeom prst="roundRect">
            <a:avLst/>
          </a:prstGeom>
          <a:solidFill>
            <a:srgbClr val="F0FDF4"/>
          </a:solidFill>
          <a:ln>
            <a:solidFill>
              <a:srgbClr val="E5E7EB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1120000" y="2600000"/>
            <a:ext cx="2900000" cy="22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AI客服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自动处理 FAQ、订单、物流；不会的问题交给人工，并记录修改。</a:t>
            </a:r>
            <a:endParaRPr lang="zh-CN" sz="1900"/>
          </a:p>
        </p:txBody>
      </p:sp>
      <p:sp>
        <p:nvSpPr>
          <p:cNvPr id="7" name="Text 7"/>
          <p:cNvSpPr txBox="1"/>
          <p:nvPr/>
        </p:nvSpPr>
        <p:spPr>
          <a:xfrm>
            <a:off x="5210000" y="2600000"/>
            <a:ext cx="2900000" cy="22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AI售后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识别退款、退货、投诉风险；给出建议，不越权赔付。</a:t>
            </a:r>
            <a:endParaRPr lang="zh-CN" sz="1900"/>
          </a:p>
        </p:txBody>
      </p:sp>
      <p:sp>
        <p:nvSpPr>
          <p:cNvPr id="8" name="Text 8"/>
          <p:cNvSpPr txBox="1"/>
          <p:nvPr/>
        </p:nvSpPr>
        <p:spPr>
          <a:xfrm>
            <a:off x="9300000" y="2600000"/>
            <a:ext cx="2900000" cy="22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AI运营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识别私域线索，生成投流和活动草稿，预算必须审批。</a:t>
            </a:r>
            <a:endParaRPr lang="zh-CN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620000"/>
            <a:ext cx="118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3350" b="1">
                <a:solidFill>
                  <a:srgbClr val="111827"/>
                </a:solidFill>
                <a:latin typeface="Microsoft YaHei"/>
                <a:ea typeface="Microsoft YaHei"/>
              </a:rPr>
              <a:t>为什么商家敢用：AI 永远不拥有无限权限</a:t>
            </a:r>
            <a:endParaRPr lang="zh-CN" sz="3350"/>
          </a:p>
        </p:txBody>
      </p:sp>
      <p:sp>
        <p:nvSpPr>
          <p:cNvPr id="3" name="Text 3"/>
          <p:cNvSpPr txBox="1"/>
          <p:nvPr/>
        </p:nvSpPr>
        <p:spPr>
          <a:xfrm>
            <a:off x="760000" y="1520000"/>
            <a:ext cx="1140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00" b="0">
                <a:solidFill>
                  <a:srgbClr val="475569"/>
                </a:solidFill>
                <a:latin typeface="Microsoft YaHei"/>
                <a:ea typeface="Microsoft YaHei"/>
              </a:rPr>
              <a:t>系统从第一天就按“低风险自动，高风险审批”的原则设计。</a:t>
            </a:r>
            <a:endParaRPr lang="zh-CN" sz="1800"/>
          </a:p>
        </p:txBody>
      </p:sp>
      <p:sp>
        <p:nvSpPr>
          <p:cNvPr id="4" name="Box 4"/>
          <p:cNvSpPr/>
          <p:nvPr/>
        </p:nvSpPr>
        <p:spPr>
          <a:xfrm>
            <a:off x="900000" y="2520000"/>
            <a:ext cx="5250000" cy="320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5" name="Box 5"/>
          <p:cNvSpPr/>
          <p:nvPr/>
        </p:nvSpPr>
        <p:spPr>
          <a:xfrm>
            <a:off x="7150000" y="2520000"/>
            <a:ext cx="5250000" cy="320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1300000" y="2980000"/>
            <a:ext cx="4400000" cy="20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可以自动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FAQ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订单查询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物流查询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基础咨询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低风险草稿</a:t>
            </a:r>
            <a:endParaRPr lang="zh-CN" sz="1850"/>
          </a:p>
        </p:txBody>
      </p:sp>
      <p:sp>
        <p:nvSpPr>
          <p:cNvPr id="7" name="Text 7"/>
          <p:cNvSpPr txBox="1"/>
          <p:nvPr/>
        </p:nvSpPr>
        <p:spPr>
          <a:xfrm>
            <a:off x="7550000" y="2980000"/>
            <a:ext cx="4400000" cy="20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必须审批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退款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赔偿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投诉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广告预算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优惠金额</a:t>
            </a:r>
            <a:endParaRPr lang="zh-CN" sz="1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630000"/>
            <a:ext cx="118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3350" b="1">
                <a:solidFill>
                  <a:srgbClr val="111827"/>
                </a:solidFill>
                <a:latin typeface="Microsoft YaHei"/>
                <a:ea typeface="Microsoft YaHei"/>
              </a:rPr>
              <a:t>7 天试用：先让 AI 跑起来，再看数据</a:t>
            </a:r>
            <a:endParaRPr lang="zh-CN" sz="3350"/>
          </a:p>
        </p:txBody>
      </p:sp>
      <p:sp>
        <p:nvSpPr>
          <p:cNvPr id="3" name="Box 3"/>
          <p:cNvSpPr/>
          <p:nvPr/>
        </p:nvSpPr>
        <p:spPr>
          <a:xfrm>
            <a:off x="760000" y="1960000"/>
            <a:ext cx="2250000" cy="290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4" name="Box 4"/>
          <p:cNvSpPr/>
          <p:nvPr/>
        </p:nvSpPr>
        <p:spPr>
          <a:xfrm>
            <a:off x="3280000" y="1960000"/>
            <a:ext cx="2250000" cy="290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5" name="Box 5"/>
          <p:cNvSpPr/>
          <p:nvPr/>
        </p:nvSpPr>
        <p:spPr>
          <a:xfrm>
            <a:off x="5800000" y="1960000"/>
            <a:ext cx="2250000" cy="290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6" name="Box 6"/>
          <p:cNvSpPr/>
          <p:nvPr/>
        </p:nvSpPr>
        <p:spPr>
          <a:xfrm>
            <a:off x="8320000" y="1960000"/>
            <a:ext cx="2250000" cy="290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7" name="Box 7"/>
          <p:cNvSpPr/>
          <p:nvPr/>
        </p:nvSpPr>
        <p:spPr>
          <a:xfrm>
            <a:off x="10840000" y="1960000"/>
            <a:ext cx="1650000" cy="290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020000" y="2420000"/>
            <a:ext cx="1700000" cy="19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600" b="1">
                <a:solidFill>
                  <a:srgbClr val="111827"/>
                </a:solidFill>
                <a:latin typeface="Microsoft YaHei"/>
                <a:ea typeface="Microsoft YaHei"/>
              </a:rPr>
              <a:t>第 1 天</a:t>
            </a:r>
            <a:endParaRPr lang="zh-CN" sz="1600"/>
          </a:p>
          <a:p>
            <a:r>
              <a:rPr lang="zh-CN" sz="1600" b="1">
                <a:solidFill>
                  <a:srgbClr val="111827"/>
                </a:solidFill>
                <a:latin typeface="Microsoft YaHei"/>
                <a:ea typeface="Microsoft YaHei"/>
              </a:rPr>
              <a:t>导入商品、订单、客户、售后数据</a:t>
            </a:r>
            <a:endParaRPr lang="zh-CN" sz="1600"/>
          </a:p>
        </p:txBody>
      </p:sp>
      <p:sp>
        <p:nvSpPr>
          <p:cNvPr id="9" name="Text 9"/>
          <p:cNvSpPr txBox="1"/>
          <p:nvPr/>
        </p:nvSpPr>
        <p:spPr>
          <a:xfrm>
            <a:off x="3540000" y="2420000"/>
            <a:ext cx="1700000" cy="19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600" b="1">
                <a:solidFill>
                  <a:srgbClr val="111827"/>
                </a:solidFill>
                <a:latin typeface="Microsoft YaHei"/>
                <a:ea typeface="Microsoft YaHei"/>
              </a:rPr>
              <a:t>第 2-3 天</a:t>
            </a:r>
            <a:endParaRPr lang="zh-CN" sz="1600"/>
          </a:p>
          <a:p>
            <a:r>
              <a:rPr lang="zh-CN" sz="1600" b="1">
                <a:solidFill>
                  <a:srgbClr val="111827"/>
                </a:solidFill>
                <a:latin typeface="Microsoft YaHei"/>
                <a:ea typeface="Microsoft YaHei"/>
              </a:rPr>
              <a:t>AI客服生成回复草稿</a:t>
            </a:r>
            <a:endParaRPr lang="zh-CN" sz="1600"/>
          </a:p>
        </p:txBody>
      </p:sp>
      <p:sp>
        <p:nvSpPr>
          <p:cNvPr id="10" name="Text 10"/>
          <p:cNvSpPr txBox="1"/>
          <p:nvPr/>
        </p:nvSpPr>
        <p:spPr>
          <a:xfrm>
            <a:off x="6060000" y="2420000"/>
            <a:ext cx="1700000" cy="19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600" b="1">
                <a:solidFill>
                  <a:srgbClr val="111827"/>
                </a:solidFill>
                <a:latin typeface="Microsoft YaHei"/>
                <a:ea typeface="Microsoft YaHei"/>
              </a:rPr>
              <a:t>第 4-5 天</a:t>
            </a:r>
            <a:endParaRPr lang="zh-CN" sz="1600"/>
          </a:p>
          <a:p>
            <a:r>
              <a:rPr lang="zh-CN" sz="1600" b="1">
                <a:solidFill>
                  <a:srgbClr val="111827"/>
                </a:solidFill>
                <a:latin typeface="Microsoft YaHei"/>
                <a:ea typeface="Microsoft YaHei"/>
              </a:rPr>
              <a:t>AI售后做风险分级</a:t>
            </a:r>
            <a:endParaRPr lang="zh-CN" sz="1600"/>
          </a:p>
        </p:txBody>
      </p:sp>
      <p:sp>
        <p:nvSpPr>
          <p:cNvPr id="11" name="Text 11"/>
          <p:cNvSpPr txBox="1"/>
          <p:nvPr/>
        </p:nvSpPr>
        <p:spPr>
          <a:xfrm>
            <a:off x="8580000" y="2420000"/>
            <a:ext cx="1700000" cy="19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600" b="1">
                <a:solidFill>
                  <a:srgbClr val="111827"/>
                </a:solidFill>
                <a:latin typeface="Microsoft YaHei"/>
                <a:ea typeface="Microsoft YaHei"/>
              </a:rPr>
              <a:t>第 6 天</a:t>
            </a:r>
            <a:endParaRPr lang="zh-CN" sz="1600"/>
          </a:p>
          <a:p>
            <a:r>
              <a:rPr lang="zh-CN" sz="1600" b="1">
                <a:solidFill>
                  <a:srgbClr val="111827"/>
                </a:solidFill>
                <a:latin typeface="Microsoft YaHei"/>
                <a:ea typeface="Microsoft YaHei"/>
              </a:rPr>
              <a:t>AI运营识别私域线索</a:t>
            </a:r>
            <a:endParaRPr lang="zh-CN" sz="1600"/>
          </a:p>
        </p:txBody>
      </p:sp>
      <p:sp>
        <p:nvSpPr>
          <p:cNvPr id="12" name="Text 12"/>
          <p:cNvSpPr txBox="1"/>
          <p:nvPr/>
        </p:nvSpPr>
        <p:spPr>
          <a:xfrm>
            <a:off x="11020000" y="2420000"/>
            <a:ext cx="1250000" cy="19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600" b="1">
                <a:solidFill>
                  <a:srgbClr val="111827"/>
                </a:solidFill>
                <a:latin typeface="Microsoft YaHei"/>
                <a:ea typeface="Microsoft YaHei"/>
              </a:rPr>
              <a:t>第 7 天</a:t>
            </a:r>
            <a:endParaRPr lang="zh-CN" sz="1600"/>
          </a:p>
          <a:p>
            <a:r>
              <a:rPr lang="zh-CN" sz="1600" b="1">
                <a:solidFill>
                  <a:srgbClr val="111827"/>
                </a:solidFill>
                <a:latin typeface="Microsoft YaHei"/>
                <a:ea typeface="Microsoft YaHei"/>
              </a:rPr>
              <a:t>复盘节省时间</a:t>
            </a:r>
            <a:endParaRPr lang="zh-CN" sz="1600"/>
          </a:p>
        </p:txBody>
      </p:sp>
      <p:sp>
        <p:nvSpPr>
          <p:cNvPr id="13" name="Text 13"/>
          <p:cNvSpPr txBox="1"/>
          <p:nvPr/>
        </p:nvSpPr>
        <p:spPr>
          <a:xfrm>
            <a:off x="780000" y="5760000"/>
            <a:ext cx="1120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700" b="0">
                <a:solidFill>
                  <a:srgbClr val="475569"/>
                </a:solidFill>
                <a:latin typeface="Microsoft YaHei"/>
                <a:ea typeface="Microsoft YaHei"/>
              </a:rPr>
              <a:t>试用期不追求全自动，先追求可验证：节省了多少时间、减少了多少人工判断、沉淀了多少学习样本。</a:t>
            </a:r>
            <a:endParaRPr lang="zh-CN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630000"/>
            <a:ext cx="118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3350" b="1">
                <a:solidFill>
                  <a:srgbClr val="111827"/>
                </a:solidFill>
                <a:latin typeface="Microsoft YaHei"/>
                <a:ea typeface="Microsoft YaHei"/>
              </a:rPr>
              <a:t>试用期看这 8 个指标</a:t>
            </a:r>
            <a:endParaRPr lang="zh-CN" sz="3350"/>
          </a:p>
        </p:txBody>
      </p:sp>
      <p:sp>
        <p:nvSpPr>
          <p:cNvPr id="3" name="Box 3"/>
          <p:cNvSpPr/>
          <p:nvPr/>
        </p:nvSpPr>
        <p:spPr>
          <a:xfrm>
            <a:off x="760000" y="1820000"/>
            <a:ext cx="11700000" cy="425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1150000" y="2250000"/>
            <a:ext cx="10900000" cy="32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1. 客服自动回复率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2. 客服错误率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3. 人工接管率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4. 售后分类准确率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5. 高风险售后拦截率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6. 私域线索识别数量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7. 运营建议采纳率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8. 每天节省人工分钟数</a:t>
            </a:r>
            <a:endParaRPr lang="zh-CN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630000"/>
            <a:ext cx="118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3350" b="1">
                <a:solidFill>
                  <a:srgbClr val="111827"/>
                </a:solidFill>
                <a:latin typeface="Microsoft YaHei"/>
                <a:ea typeface="Microsoft YaHei"/>
              </a:rPr>
              <a:t>当前阶段：适合小范围真实商家试用</a:t>
            </a:r>
            <a:endParaRPr lang="zh-CN" sz="3350"/>
          </a:p>
        </p:txBody>
      </p:sp>
      <p:sp>
        <p:nvSpPr>
          <p:cNvPr id="3" name="Text 3"/>
          <p:cNvSpPr txBox="1"/>
          <p:nvPr/>
        </p:nvSpPr>
        <p:spPr>
          <a:xfrm>
            <a:off x="760000" y="1520000"/>
            <a:ext cx="1140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00" b="0">
                <a:solidFill>
                  <a:srgbClr val="475569"/>
                </a:solidFill>
                <a:latin typeface="Microsoft YaHei"/>
                <a:ea typeface="Microsoft YaHei"/>
              </a:rPr>
              <a:t>现在不是承诺一键替代整个团队，而是用真实数据证明 AI 能先替代多少重复工作。</a:t>
            </a:r>
            <a:endParaRPr lang="zh-CN" sz="1800"/>
          </a:p>
        </p:txBody>
      </p:sp>
      <p:sp>
        <p:nvSpPr>
          <p:cNvPr id="4" name="Box 4"/>
          <p:cNvSpPr/>
          <p:nvPr/>
        </p:nvSpPr>
        <p:spPr>
          <a:xfrm>
            <a:off x="900000" y="2500000"/>
            <a:ext cx="5300000" cy="3100000"/>
          </a:xfrm>
          <a:prstGeom prst="roundRect">
            <a:avLst/>
          </a:prstGeom>
          <a:solidFill>
            <a:srgbClr val="F0FDF4"/>
          </a:solidFill>
          <a:ln>
            <a:solidFill>
              <a:srgbClr val="E5E7EB"/>
            </a:solidFill>
          </a:ln>
        </p:spPr>
      </p:sp>
      <p:sp>
        <p:nvSpPr>
          <p:cNvPr id="5" name="Box 5"/>
          <p:cNvSpPr/>
          <p:nvPr/>
        </p:nvSpPr>
        <p:spPr>
          <a:xfrm>
            <a:off x="7100000" y="2500000"/>
            <a:ext cx="5300000" cy="3100000"/>
          </a:xfrm>
          <a:prstGeom prst="roundRect">
            <a:avLst/>
          </a:prstGeom>
          <a:solidFill>
            <a:srgbClr val="FEF2F2"/>
          </a:solidFill>
          <a:ln>
            <a:solidFill>
              <a:srgbClr val="E5E7EB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1300000" y="2980000"/>
            <a:ext cx="4350000" cy="19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00" b="1">
                <a:solidFill>
                  <a:srgbClr val="111827"/>
                </a:solidFill>
                <a:latin typeface="Microsoft YaHei"/>
                <a:ea typeface="Microsoft YaHei"/>
              </a:rPr>
              <a:t>已经具备</a:t>
            </a:r>
            <a:endParaRPr lang="zh-CN" sz="1800"/>
          </a:p>
          <a:p>
            <a:r>
              <a:rPr lang="zh-CN" sz="1800" b="1">
                <a:solidFill>
                  <a:srgbClr val="111827"/>
                </a:solidFill>
                <a:latin typeface="Microsoft YaHei"/>
                <a:ea typeface="Microsoft YaHei"/>
              </a:rPr>
              <a:t>AI客服工作台</a:t>
            </a:r>
            <a:endParaRPr lang="zh-CN" sz="1800"/>
          </a:p>
          <a:p>
            <a:r>
              <a:rPr lang="zh-CN" sz="1800" b="1">
                <a:solidFill>
                  <a:srgbClr val="111827"/>
                </a:solidFill>
                <a:latin typeface="Microsoft YaHei"/>
                <a:ea typeface="Microsoft YaHei"/>
              </a:rPr>
              <a:t>AI售后工作台</a:t>
            </a:r>
            <a:endParaRPr lang="zh-CN" sz="1800"/>
          </a:p>
          <a:p>
            <a:r>
              <a:rPr lang="zh-CN" sz="1800" b="1">
                <a:solidFill>
                  <a:srgbClr val="111827"/>
                </a:solidFill>
                <a:latin typeface="Microsoft YaHei"/>
                <a:ea typeface="Microsoft YaHei"/>
              </a:rPr>
              <a:t>数据导入入口</a:t>
            </a:r>
            <a:endParaRPr lang="zh-CN" sz="1800"/>
          </a:p>
          <a:p>
            <a:r>
              <a:rPr lang="zh-CN" sz="1800" b="1">
                <a:solidFill>
                  <a:srgbClr val="111827"/>
                </a:solidFill>
                <a:latin typeface="Microsoft YaHei"/>
                <a:ea typeface="Microsoft YaHei"/>
              </a:rPr>
              <a:t>人工接管与学习记录</a:t>
            </a:r>
            <a:endParaRPr lang="zh-CN" sz="1800"/>
          </a:p>
        </p:txBody>
      </p:sp>
      <p:sp>
        <p:nvSpPr>
          <p:cNvPr id="7" name="Text 7"/>
          <p:cNvSpPr txBox="1"/>
          <p:nvPr/>
        </p:nvSpPr>
        <p:spPr>
          <a:xfrm>
            <a:off x="7500000" y="2980000"/>
            <a:ext cx="4350000" cy="19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00" b="1">
                <a:solidFill>
                  <a:srgbClr val="111827"/>
                </a:solidFill>
                <a:latin typeface="Microsoft YaHei"/>
                <a:ea typeface="Microsoft YaHei"/>
              </a:rPr>
              <a:t>仍需接入</a:t>
            </a:r>
            <a:endParaRPr lang="zh-CN" sz="1800"/>
          </a:p>
          <a:p>
            <a:r>
              <a:rPr lang="zh-CN" sz="1800" b="1">
                <a:solidFill>
                  <a:srgbClr val="111827"/>
                </a:solidFill>
                <a:latin typeface="Microsoft YaHei"/>
                <a:ea typeface="Microsoft YaHei"/>
              </a:rPr>
              <a:t>真实平台消息</a:t>
            </a:r>
            <a:endParaRPr lang="zh-CN" sz="1800"/>
          </a:p>
          <a:p>
            <a:r>
              <a:rPr lang="zh-CN" sz="1800" b="1">
                <a:solidFill>
                  <a:srgbClr val="111827"/>
                </a:solidFill>
                <a:latin typeface="Microsoft YaHei"/>
                <a:ea typeface="Microsoft YaHei"/>
              </a:rPr>
              <a:t>真实数据库</a:t>
            </a:r>
            <a:endParaRPr lang="zh-CN" sz="1800"/>
          </a:p>
          <a:p>
            <a:r>
              <a:rPr lang="zh-CN" sz="1800" b="1">
                <a:solidFill>
                  <a:srgbClr val="111827"/>
                </a:solidFill>
                <a:latin typeface="Microsoft YaHei"/>
                <a:ea typeface="Microsoft YaHei"/>
              </a:rPr>
              <a:t>Redis 队列</a:t>
            </a:r>
            <a:endParaRPr lang="zh-CN" sz="1800"/>
          </a:p>
          <a:p>
            <a:r>
              <a:rPr lang="zh-CN" sz="1800" b="1">
                <a:solidFill>
                  <a:srgbClr val="111827"/>
                </a:solidFill>
                <a:latin typeface="Microsoft YaHei"/>
                <a:ea typeface="Microsoft YaHei"/>
              </a:rPr>
              <a:t>商家试用样本</a:t>
            </a:r>
            <a:endParaRPr lang="zh-CN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80000" y="820000"/>
            <a:ext cx="11600000" cy="11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3600" b="1">
                <a:solidFill>
                  <a:srgbClr val="111827"/>
                </a:solidFill>
                <a:latin typeface="Microsoft YaHei"/>
                <a:ea typeface="Microsoft YaHei"/>
              </a:rPr>
              <a:t>下一步：用一家真实店铺验证降本</a:t>
            </a:r>
            <a:endParaRPr lang="zh-CN" sz="3600"/>
          </a:p>
        </p:txBody>
      </p:sp>
      <p:sp>
        <p:nvSpPr>
          <p:cNvPr id="3" name="Text 3"/>
          <p:cNvSpPr txBox="1"/>
          <p:nvPr/>
        </p:nvSpPr>
        <p:spPr>
          <a:xfrm>
            <a:off x="850000" y="2250000"/>
            <a:ext cx="10900000" cy="8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950" b="0">
                <a:solidFill>
                  <a:srgbClr val="475569"/>
                </a:solidFill>
                <a:latin typeface="Microsoft YaHei"/>
                <a:ea typeface="Microsoft YaHei"/>
              </a:rPr>
              <a:t>导入历史数据，跑 AI客服和 AI售后，收集修改样本，一周后用指标判断是否继续扩大自动化。</a:t>
            </a:r>
            <a:endParaRPr lang="zh-CN" sz="1950"/>
          </a:p>
        </p:txBody>
      </p:sp>
      <p:sp>
        <p:nvSpPr>
          <p:cNvPr id="4" name="Box 4"/>
          <p:cNvSpPr/>
          <p:nvPr/>
        </p:nvSpPr>
        <p:spPr>
          <a:xfrm>
            <a:off x="860000" y="3650000"/>
            <a:ext cx="11450000" cy="1700000"/>
          </a:xfrm>
          <a:prstGeom prst="roundRect">
            <a:avLst/>
          </a:prstGeom>
          <a:solidFill>
            <a:srgbClr val="111827"/>
          </a:solidFill>
          <a:ln>
            <a:solidFill>
              <a:srgbClr val="E5E7EB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1220000" y="4150000"/>
            <a:ext cx="107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</a:rPr>
              <a:t>AI 负责重复工作，老板负责最终审批。先省时间，再省人。</a:t>
            </a:r>
            <a:endParaRPr lang="zh-CN" sz="230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AI Commerce OS</Application>
  <PresentationFormat>宽屏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Commerce OS B2B Deck</dc:title>
  <dc:creator>AI Commerce OS</dc:creator>
  <cp:lastModifiedBy>AI Commerce OS</cp:lastModifiedBy>
  <dcterms:created xsi:type="dcterms:W3CDTF">2026-07-12T00:00:00Z</dcterms:created>
  <dcterms:modified xsi:type="dcterms:W3CDTF">2026-07-12T00:00:00Z</dcterms:modified>
</cp:coreProperties>
</file>